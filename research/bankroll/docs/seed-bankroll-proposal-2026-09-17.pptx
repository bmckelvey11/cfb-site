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3600" b="1">
                <a:solidFill>
                  <a:srgbClr val="1A1D24"/>
                </a:solidFill>
              </a:defRPr>
            </a:pPr>
            <a:r>
              <a:t>Seed bankroll: $20,000 for the rest of the 2026 season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20040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6B7280"/>
                </a:solidFill>
              </a:defRPr>
            </a:pPr>
            <a:r>
              <a:t>A gift that funds a betting bankroll. Nothing is owed back.</a:t>
            </a:r>
          </a:p>
          <a:p>
            <a:pPr>
              <a:spcAft>
                <a:spcPts val="600"/>
              </a:spcAft>
              <a:defRPr sz="1800" b="0">
                <a:solidFill>
                  <a:srgbClr val="6B7280"/>
                </a:solidFill>
              </a:defRPr>
            </a:pPr>
            <a:r>
              <a:t>Not an investment, not a loan, not a security.</a:t>
            </a:r>
          </a:p>
          <a:p>
            <a:pPr>
              <a:spcAft>
                <a:spcPts val="600"/>
              </a:spcAft>
              <a:defRPr sz="1800" b="0">
                <a:solidFill>
                  <a:srgbClr val="6B7280"/>
                </a:solidFill>
              </a:defRPr>
            </a:pPr>
            <a:r>
              <a:t>Every number here comes from a script in the repository and carries its uncertainty.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85216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 b="0">
                <a:solidFill>
                  <a:srgbClr val="6B7280"/>
                </a:solidFill>
              </a:defRPr>
            </a:pPr>
            <a:r>
              <a:t>Prepared September 17,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1A1D24"/>
                </a:solidFill>
              </a:defRPr>
            </a:pPr>
            <a:r>
              <a:t>The ask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463040"/>
          <a:ext cx="109728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8229600"/>
              </a:tblGrid>
              <a:tr h="36576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A1D24"/>
                          </a:solidFill>
                        </a:defRPr>
                      </a:pPr>
                      <a:r>
                        <a:t>item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A1D24"/>
                          </a:solidFill>
                        </a:defRPr>
                      </a:pPr>
                      <a:r>
                        <a:t>value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amount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$20,000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horizon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weeks 4–15 of the 2026 regular season, Sept 24 to Dec 12 (12 weeks)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what it funds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two totals strategies already running, flat stakes off the starting bankroll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expected bets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~99: ~88 Greenline unders, ~11 over-zero overs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recommended stake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Greenline $100 per bet (0.5%), over-zero $200 per bet (1%)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afterwards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bankroll and profit stay in the operation for 2027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1A1D24"/>
                </a:solidFill>
              </a:defRPr>
            </a:pPr>
            <a:r>
              <a:t>What gets bet: two legs, one bankroll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6B7280"/>
                </a:solidFill>
              </a:defRPr>
            </a:pPr>
            <a:r>
              <a:t>Win rates are shown with their 95% intervals. Break-even is 52.4% at −110, 54.5% at −120.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54480"/>
          <a:ext cx="1106424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4480560"/>
                <a:gridCol w="4480560"/>
              </a:tblGrid>
              <a:tr h="36576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A1D24"/>
                          </a:solidFill>
                        </a:defRPr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A1D24"/>
                          </a:solidFill>
                        </a:defRPr>
                      </a:pPr>
                      <a:r>
                        <a:t>Over-zero (floor-bias OVERs)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A1D24"/>
                          </a:solidFill>
                        </a:defRPr>
                      </a:pPr>
                      <a:r>
                        <a:t>Greenline totals (PFF flags, ~85% unders)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D24"/>
                          </a:solidFill>
                        </a:defRPr>
                      </a:pPr>
                      <a:r>
                        <a:t>what it 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D24"/>
                          </a:solidFill>
                        </a:defRPr>
                      </a:pPr>
                      <a:r>
                        <a:t>in-house model: totals pinned too low against heavy favorites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D24"/>
                          </a:solidFill>
                        </a:defRPr>
                      </a:pPr>
                      <a:r>
                        <a:t>vendor projection disagreeing with the market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D24"/>
                          </a:solidFill>
                        </a:defRPr>
                      </a:pPr>
                      <a:r>
                        <a:t>record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D24"/>
                          </a:solidFill>
                        </a:defRPr>
                      </a:pPr>
                      <a:r>
                        <a:t>151–83, 64.5% (58.2–70.4%), walk-forward 2016–25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D24"/>
                          </a:solidFill>
                        </a:defRPr>
                      </a:pPr>
                      <a:r>
                        <a:t>27–22, 55.1% (41–68%), 2026 wk 2; + 114–87 personal unders 2023–25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D24"/>
                          </a:solidFill>
                        </a:defRPr>
                      </a:pPr>
                      <a:r>
                        <a:t>planning win 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D24"/>
                          </a:solidFill>
                        </a:defRPr>
                      </a:pPr>
                      <a:r>
                        <a:t>58.2%, the interval floor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D24"/>
                          </a:solidFill>
                        </a:defRPr>
                      </a:pPr>
                      <a:r>
                        <a:t>bracket: 55.0% (2026 only) to 56.4% (pooled)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D24"/>
                          </a:solidFill>
                        </a:defRPr>
                      </a:pPr>
                      <a:r>
                        <a:t>price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D24"/>
                          </a:solidFill>
                        </a:defRPr>
                      </a:pPr>
                      <a:r>
                        <a:t>−120 or better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D24"/>
                          </a:solidFill>
                        </a:defRPr>
                      </a:pPr>
                      <a:r>
                        <a:t>−110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D24"/>
                          </a:solidFill>
                        </a:defRPr>
                      </a:pPr>
                      <a:r>
                        <a:t>bets left in 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D24"/>
                          </a:solidFill>
                        </a:defRPr>
                      </a:pPr>
                      <a:r>
                        <a:t>~11, median +$133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D24"/>
                          </a:solidFill>
                        </a:defRPr>
                      </a:pPr>
                      <a:r>
                        <a:t>~13% of each week's flags, ~7 a week, ~88 total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D24"/>
                          </a:solidFill>
                        </a:defRPr>
                      </a:pPr>
                      <a:r>
                        <a:t>role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D24"/>
                          </a:solidFill>
                        </a:defRPr>
                      </a:pPr>
                      <a:r>
                        <a:t>better evidence, nearly spent for 2026; matters in 2027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D24"/>
                          </a:solidFill>
                        </a:defRPr>
                      </a:pPr>
                      <a:r>
                        <a:t>carries the whole 2026 projection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12064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6B7280"/>
                </a:solidFill>
              </a:defRPr>
            </a:pPr>
            <a:r>
              <a:t>Conflict rule: same game flagged on opposite sides → Greenline takes it, over-zero skips it.</a:t>
            </a:r>
          </a:p>
          <a:p>
            <a:pPr>
              <a:spcAft>
                <a:spcPts val="600"/>
              </a:spcAft>
              <a:defRPr sz="1300" b="0">
                <a:solidFill>
                  <a:srgbClr val="6B7280"/>
                </a:solidFill>
              </a:defRPr>
            </a:pPr>
            <a:r>
              <a:t>Excluded: the spread model (research, not a bet); Greenline spreads and moneylines (21–28 and 21–25 in week 2).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1A1D24"/>
                </a:solidFill>
              </a:defRPr>
            </a:pPr>
            <a:r>
              <a:t>The projection: bracketed, not resolved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6B7280"/>
                </a:solidFill>
              </a:defRPr>
            </a:pPr>
            <a:r>
              <a:t>100,000 paths, win rates drawn per path from each record. Two panels = the two defensible Greenline priors.</a:t>
            </a:r>
          </a:p>
        </p:txBody>
      </p:sp>
      <p:pic>
        <p:nvPicPr>
          <p:cNvPr id="4" name="Picture 3" descr="mc-combined-totals-2026-09-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7920318" cy="52120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1A1D24"/>
                </a:solidFill>
              </a:defRPr>
            </a:pPr>
            <a:r>
              <a:t>Choosing the stake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6B7280"/>
                </a:solidFill>
              </a:defRPr>
            </a:pPr>
            <a:r>
              <a:t>Largest median gain such that ≤1% of paths end down 25% and none go to zero, under both priors.</a:t>
            </a:r>
          </a:p>
        </p:txBody>
      </p:sp>
      <p:pic>
        <p:nvPicPr>
          <p:cNvPr id="4" name="Picture 3" descr="bankroll-config-sweep-2026-09-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463040"/>
            <a:ext cx="7510272" cy="51206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955279" y="1554480"/>
            <a:ext cx="3931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1A1D24"/>
                </a:solidFill>
              </a:defRPr>
            </a:pPr>
            <a:r>
              <a:t>Recommended: Greenline 0.5% ($100), over-zero 1% ($200).</a:t>
            </a:r>
          </a:p>
          <a:p>
            <a:pPr>
              <a:spcAft>
                <a:spcPts val="600"/>
              </a:spcAft>
              <a:defRPr sz="1300" b="0">
                <a:solidFill>
                  <a:srgbClr val="1A1D24"/>
                </a:solidFill>
              </a:defRPr>
            </a:pPr>
            <a:r>
              <a:t>Median $20,821 pooled / $20,594 2026-only.</a:t>
            </a:r>
          </a:p>
          <a:p>
            <a:pPr>
              <a:spcAft>
                <a:spcPts val="600"/>
              </a:spcAft>
              <a:defRPr sz="1300" b="0">
                <a:solidFill>
                  <a:srgbClr val="1A1D24"/>
                </a:solidFill>
              </a:defRPr>
            </a:pPr>
            <a:r>
              <a:t>5th pct $18,685 / $17,818. P(−25%) 0% under both.</a:t>
            </a:r>
          </a:p>
          <a:p>
            <a:pPr>
              <a:spcAft>
                <a:spcPts val="600"/>
              </a:spcAft>
              <a:defRPr sz="1300" b="0">
                <a:solidFill>
                  <a:srgbClr val="1A1D24"/>
                </a:solidFill>
              </a:defRPr>
            </a:pPr>
          </a:p>
          <a:p>
            <a:pPr>
              <a:spcAft>
                <a:spcPts val="600"/>
              </a:spcAft>
              <a:defRPr sz="1300" b="0">
                <a:solidFill>
                  <a:srgbClr val="1A1D24"/>
                </a:solidFill>
              </a:defRPr>
            </a:pPr>
            <a:r>
              <a:t>1% ($200) passes only under the pooled prior (median $21,502 / $21,052; P(−25%) 0.4% / 3.0%). Upgrade path once four more weeks are graded.</a:t>
            </a:r>
          </a:p>
          <a:p>
            <a:pPr>
              <a:spcAft>
                <a:spcPts val="600"/>
              </a:spcAft>
              <a:defRPr sz="1300" b="0">
                <a:solidFill>
                  <a:srgbClr val="1A1D24"/>
                </a:solidFill>
              </a:defRPr>
            </a:pPr>
          </a:p>
          <a:p>
            <a:pPr>
              <a:spcAft>
                <a:spcPts val="600"/>
              </a:spcAft>
              <a:defRPr sz="1300" b="0">
                <a:solidFill>
                  <a:srgbClr val="1A1D24"/>
                </a:solidFill>
              </a:defRPr>
            </a:pPr>
            <a:r>
              <a:t>Stake does not change the downside ratio. Coverage does, and coverage is the unproven assumption. Conditional rows are shown, not recommended.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1A1D24"/>
                </a:solidFill>
              </a:defRPr>
            </a:pPr>
            <a:r>
              <a:t>Risk, stated plainly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6B7280"/>
                </a:solidFill>
              </a:defRPr>
            </a:pPr>
            <a:r>
              <a:t>At the recommended $100 / $200 stakes. Flat stakes, no stop-loss.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54480"/>
          <a:ext cx="731520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2011680"/>
                <a:gridCol w="2011680"/>
              </a:tblGrid>
              <a:tr h="36576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A1D24"/>
                          </a:solidFill>
                        </a:defRPr>
                      </a:pPr>
                      <a:r>
                        <a:t>measure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A1D24"/>
                          </a:solidFill>
                        </a:defRPr>
                      </a:pPr>
                      <a:r>
                        <a:t>pooled prior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A1D24"/>
                          </a:solidFill>
                        </a:defRPr>
                      </a:pPr>
                      <a:r>
                        <a:t>2026-only prior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P(season ends below $20,000)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26.3%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36.2%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P(ends below $15,000)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0.0%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P(passes through $0)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0.0%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median ending bankroll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$20,821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$20,594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5th percentile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$18,685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$17,818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95th percentile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$22,945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$23,297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worst single week, median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−$461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−$509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total staked, 12 weeks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$10,946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$10,948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229600" y="1645920"/>
            <a:ext cx="3566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1A1D24"/>
                </a:solidFill>
              </a:defRPr>
            </a:pPr>
            <a:r>
              <a:t>Roughly one season in three ends below $20,000. That is mostly not knowing the true win rate, which a 12-week season cannot average away.</a:t>
            </a:r>
          </a:p>
          <a:p>
            <a:pPr>
              <a:spcAft>
                <a:spcPts val="600"/>
              </a:spcAft>
              <a:defRPr sz="1300" b="0">
                <a:solidFill>
                  <a:srgbClr val="1A1D24"/>
                </a:solidFill>
              </a:defRPr>
            </a:pPr>
          </a:p>
          <a:p>
            <a:pPr>
              <a:spcAft>
                <a:spcPts val="600"/>
              </a:spcAft>
              <a:defRPr sz="1300" b="0">
                <a:solidFill>
                  <a:srgbClr val="1A1D24"/>
                </a:solidFill>
              </a:defRPr>
            </a:pPr>
            <a:r>
              <a:t>One season in twenty ends worse than about −$1,900.</a:t>
            </a:r>
          </a:p>
          <a:p>
            <a:pPr>
              <a:spcAft>
                <a:spcPts val="600"/>
              </a:spcAft>
              <a:defRPr sz="1300" b="0">
                <a:solidFill>
                  <a:srgbClr val="1A1D24"/>
                </a:solidFill>
              </a:defRPr>
            </a:pPr>
          </a:p>
          <a:p>
            <a:pPr>
              <a:spcAft>
                <a:spcPts val="600"/>
              </a:spcAft>
              <a:defRPr sz="1300" b="0">
                <a:solidFill>
                  <a:srgbClr val="1A1D24"/>
                </a:solidFill>
              </a:defRPr>
            </a:pPr>
            <a:r>
              <a:t>Same-Saturday correlation is assumed (ρ = 0.10), not measured. It moves the tail by a few hundred dollars and the median not at all.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1A1D24"/>
                </a:solidFill>
              </a:defRPr>
            </a:pPr>
            <a:r>
              <a:t>What the numbers do not support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1A1D24"/>
                </a:solidFill>
              </a:defRPr>
            </a:pPr>
            <a:r>
              <a:t>• Greenline as independently validated. n=49 in 2026, interval 41–68%. The pooled record is 80% the same signal bet in earlier seasons.</a:t>
            </a:r>
          </a:p>
          <a:p>
            <a:pPr>
              <a:spcAft>
                <a:spcPts val="600"/>
              </a:spcAft>
              <a:defRPr sz="1500" b="0">
                <a:solidFill>
                  <a:srgbClr val="1A1D24"/>
                </a:solidFill>
              </a:defRPr>
            </a:pPr>
            <a:r>
              <a:t>• The pooled prior transferring in full. The 201 past unders sat ~6 points higher in total than the 2026 flags. Pooling probably overstates.</a:t>
            </a:r>
          </a:p>
          <a:p>
            <a:pPr>
              <a:spcAft>
                <a:spcPts val="600"/>
              </a:spcAft>
              <a:defRPr sz="1500" b="0">
                <a:solidFill>
                  <a:srgbClr val="1A1D24"/>
                </a:solidFill>
              </a:defRPr>
            </a:pPr>
            <a:r>
              <a:t>• Any coverage above 13%. Every 'bet more flags' row assumes the picked-flag win rate applies to flags that were passed on.</a:t>
            </a:r>
          </a:p>
          <a:p>
            <a:pPr>
              <a:spcAft>
                <a:spcPts val="600"/>
              </a:spcAft>
              <a:defRPr sz="1500" b="0">
                <a:solidFill>
                  <a:srgbClr val="1A1D24"/>
                </a:solidFill>
              </a:defRPr>
            </a:pPr>
            <a:r>
              <a:t>• A reproducible selection rule. 'Bet ~6 of 49 a week' is a volume assumption; no script picks which six.</a:t>
            </a:r>
          </a:p>
          <a:p>
            <a:pPr>
              <a:spcAft>
                <a:spcPts val="600"/>
              </a:spcAft>
              <a:defRPr sz="1500" b="0">
                <a:solidFill>
                  <a:srgbClr val="1A1D24"/>
                </a:solidFill>
              </a:defRPr>
            </a:pPr>
            <a:r>
              <a:t>• A 2027 projection. Not modeled yet. Needs over-zero at full-season volume and a full graded Greenline season.</a:t>
            </a:r>
          </a:p>
          <a:p>
            <a:pPr>
              <a:spcAft>
                <a:spcPts val="600"/>
              </a:spcAft>
              <a:defRPr sz="1500" b="0">
                <a:solidFill>
                  <a:srgbClr val="1A1D24"/>
                </a:solidFill>
              </a:defRPr>
            </a:pPr>
            <a:r>
              <a:t>• Compounded returns. Simultaneous kickoffs make them unachievable; everything here is flat-staked.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1A1D24"/>
                </a:solidFill>
              </a:defRPr>
            </a:pPr>
            <a:r>
              <a:t>What the money does each week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463040"/>
          <a:ext cx="109728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8686800"/>
              </a:tblGrid>
              <a:tr h="365760"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1A1D24"/>
                          </a:solidFill>
                        </a:defRPr>
                      </a:pPr>
                      <a:r>
                        <a:t>day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1A1D24"/>
                          </a:solidFill>
                        </a:defRPr>
                      </a:pPr>
                      <a:r>
                        <a:t>step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1D24"/>
                          </a:solidFill>
                        </a:defRPr>
                      </a:pPr>
                      <a:r>
                        <a:t>Wednesday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1D24"/>
                          </a:solidFill>
                        </a:defRPr>
                      </a:pPr>
                      <a:r>
                        <a:t>capture Greenline flags; seed the bet ledger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1D24"/>
                          </a:solidFill>
                        </a:defRPr>
                      </a:pPr>
                      <a:r>
                        <a:t>Thursday–Saturday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1D24"/>
                          </a:solidFill>
                        </a:defRPr>
                      </a:pPr>
                      <a:r>
                        <a:t>bet ~6 unders at −110 or better; over-zero board at −120 or better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1D24"/>
                          </a:solidFill>
                        </a:defRPr>
                      </a:pPr>
                      <a:r>
                        <a:t>Monday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1D24"/>
                          </a:solidFill>
                        </a:defRPr>
                      </a:pPr>
                      <a:r>
                        <a:t>grade flags; mark which were bet; rerun the projection with the new record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329184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1A1D24"/>
                </a:solidFill>
              </a:defRPr>
            </a:pPr>
            <a:r>
              <a:t>Marking which flags get bet is the one manual step and the one that resolves the biggest open question (coverage).</a:t>
            </a:r>
          </a:p>
          <a:p>
            <a:pPr>
              <a:spcAft>
                <a:spcPts val="600"/>
              </a:spcAft>
              <a:defRPr sz="1500" b="0">
                <a:solidFill>
                  <a:srgbClr val="1A1D24"/>
                </a:solidFill>
              </a:defRPr>
            </a:pPr>
            <a:r>
              <a:t>Four more graded weeks puts the 2026 flags at n≈250 on their own. The prior stops doing the work and the stake decision gets revisited then.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